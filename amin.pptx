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  <p:sldMasterId id="2147483705" r:id="rId2"/>
    <p:sldMasterId id="2147483669" r:id="rId3"/>
    <p:sldMasterId id="2147483674" r:id="rId4"/>
  </p:sldMasterIdLst>
  <p:notesMasterIdLst>
    <p:notesMasterId r:id="rId21"/>
  </p:notesMasterIdLst>
  <p:handoutMasterIdLst>
    <p:handoutMasterId r:id="rId22"/>
  </p:handoutMasterIdLst>
  <p:sldIdLst>
    <p:sldId id="261" r:id="rId5"/>
    <p:sldId id="280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3" r:id="rId17"/>
    <p:sldId id="292" r:id="rId18"/>
    <p:sldId id="295" r:id="rId19"/>
    <p:sldId id="29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375E"/>
    <a:srgbClr val="3D0029"/>
    <a:srgbClr val="531C40"/>
    <a:srgbClr val="1A2A4F"/>
    <a:srgbClr val="0A142D"/>
    <a:srgbClr val="BAA360"/>
    <a:srgbClr val="8B7A39"/>
    <a:srgbClr val="3C0529"/>
    <a:srgbClr val="2B0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9"/>
    <p:restoredTop sz="93474"/>
  </p:normalViewPr>
  <p:slideViewPr>
    <p:cSldViewPr snapToGrid="0" snapToObjects="1" showGuides="1">
      <p:cViewPr>
        <p:scale>
          <a:sx n="75" d="100"/>
          <a:sy n="75" d="100"/>
        </p:scale>
        <p:origin x="1164" y="33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0" d="100"/>
          <a:sy n="120" d="100"/>
        </p:scale>
        <p:origin x="389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AF5E7-E2FE-1145-9869-7B43B6344FF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85789-F3D9-634F-96C2-BEA085027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4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9D845-61A1-534E-B44F-B4CDA5FED41D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66683-5F5D-234B-A41B-4703CDF0D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6683-5F5D-234B-A41B-4703CDF0DB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0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5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8644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2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flipH="1">
            <a:off x="-545176" y="9627"/>
            <a:ext cx="3330189" cy="6857999"/>
            <a:chOff x="6027018" y="9627"/>
            <a:chExt cx="3330189" cy="6857999"/>
          </a:xfrm>
        </p:grpSpPr>
        <p:sp>
          <p:nvSpPr>
            <p:cNvPr id="10" name="TextBox 9"/>
            <p:cNvSpPr txBox="1">
              <a:spLocks/>
            </p:cNvSpPr>
            <p:nvPr userDrawn="1"/>
          </p:nvSpPr>
          <p:spPr>
            <a:xfrm rot="19740735" flipH="1">
              <a:off x="6144747" y="374205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03783 w 3212460"/>
                <a:gd name="connsiteY5" fmla="*/ 1736666 h 1920108"/>
                <a:gd name="connsiteX6" fmla="*/ 56031 w 3212460"/>
                <a:gd name="connsiteY6" fmla="*/ 374148 h 1920108"/>
                <a:gd name="connsiteX7" fmla="*/ 0 w 3212460"/>
                <a:gd name="connsiteY7" fmla="*/ 368316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cubicBezTo>
                    <a:pt x="3147620" y="1858596"/>
                    <a:pt x="3068623" y="1798178"/>
                    <a:pt x="3003783" y="1736666"/>
                  </a:cubicBezTo>
                  <a:cubicBezTo>
                    <a:pt x="2178374" y="997003"/>
                    <a:pt x="1193572" y="525963"/>
                    <a:pt x="56031" y="374148"/>
                  </a:cubicBezTo>
                  <a:lnTo>
                    <a:pt x="0" y="368316"/>
                  </a:lnTo>
                  <a:close/>
                </a:path>
              </a:pathLst>
            </a:custGeom>
            <a:solidFill>
              <a:srgbClr val="BAA36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9740735" flipH="1">
              <a:off x="6027018" y="3217353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92240" y="1178216"/>
                    <a:pt x="137249" y="201083"/>
                  </a:cubicBezTo>
                  <a:cubicBezTo>
                    <a:pt x="88233" y="134783"/>
                    <a:pt x="49016" y="66300"/>
                    <a:pt x="0" y="0"/>
                  </a:cubicBezTo>
                  <a:close/>
                </a:path>
              </a:pathLst>
            </a:custGeom>
            <a:solidFill>
              <a:srgbClr val="8B7A3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 15"/>
            <p:cNvSpPr/>
            <p:nvPr userDrawn="1"/>
          </p:nvSpPr>
          <p:spPr>
            <a:xfrm>
              <a:off x="6835360" y="9627"/>
              <a:ext cx="2308641" cy="6857999"/>
            </a:xfrm>
            <a:custGeom>
              <a:avLst/>
              <a:gdLst>
                <a:gd name="connsiteX0" fmla="*/ 1977387 w 2308641"/>
                <a:gd name="connsiteY0" fmla="*/ 0 h 6857999"/>
                <a:gd name="connsiteX1" fmla="*/ 2308641 w 2308641"/>
                <a:gd name="connsiteY1" fmla="*/ 0 h 6857999"/>
                <a:gd name="connsiteX2" fmla="*/ 2308641 w 2308641"/>
                <a:gd name="connsiteY2" fmla="*/ 6857999 h 6857999"/>
                <a:gd name="connsiteX3" fmla="*/ 629671 w 2308641"/>
                <a:gd name="connsiteY3" fmla="*/ 6857999 h 6857999"/>
                <a:gd name="connsiteX4" fmla="*/ 534562 w 2308641"/>
                <a:gd name="connsiteY4" fmla="*/ 6597467 h 6857999"/>
                <a:gd name="connsiteX5" fmla="*/ 30552 w 2308641"/>
                <a:gd name="connsiteY5" fmla="*/ 2981291 h 6857999"/>
                <a:gd name="connsiteX6" fmla="*/ 1977387 w 2308641"/>
                <a:gd name="connsiteY6" fmla="*/ 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8641" h="6857999">
                  <a:moveTo>
                    <a:pt x="1977387" y="0"/>
                  </a:moveTo>
                  <a:lnTo>
                    <a:pt x="2308641" y="0"/>
                  </a:lnTo>
                  <a:lnTo>
                    <a:pt x="2308641" y="6857999"/>
                  </a:lnTo>
                  <a:lnTo>
                    <a:pt x="629671" y="6857999"/>
                  </a:lnTo>
                  <a:lnTo>
                    <a:pt x="534562" y="6597467"/>
                  </a:lnTo>
                  <a:cubicBezTo>
                    <a:pt x="73950" y="5297546"/>
                    <a:pt x="-70360" y="4283247"/>
                    <a:pt x="30552" y="2981291"/>
                  </a:cubicBezTo>
                  <a:cubicBezTo>
                    <a:pt x="505020" y="1253583"/>
                    <a:pt x="1372741" y="501570"/>
                    <a:pt x="1977387" y="0"/>
                  </a:cubicBez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32329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32328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909833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86539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sp>
        <p:nvSpPr>
          <p:cNvPr id="10" name="TextBox 9"/>
          <p:cNvSpPr txBox="1">
            <a:spLocks/>
          </p:cNvSpPr>
          <p:nvPr userDrawn="1"/>
        </p:nvSpPr>
        <p:spPr>
          <a:xfrm rot="19740735" flipH="1">
            <a:off x="6452756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3502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7143369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449005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13077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13076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90581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 rot="1859265">
            <a:off x="-564428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 rot="1859265">
            <a:off x="85367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flipH="1">
            <a:off x="-351222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72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1" name="TextBox 10"/>
          <p:cNvSpPr txBox="1">
            <a:spLocks/>
          </p:cNvSpPr>
          <p:nvPr userDrawn="1"/>
        </p:nvSpPr>
        <p:spPr>
          <a:xfrm rot="19740735" flipH="1">
            <a:off x="6472005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54276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/>
          <p:nvPr userDrawn="1"/>
        </p:nvSpPr>
        <p:spPr>
          <a:xfrm>
            <a:off x="7162618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13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6110839" y="1"/>
            <a:ext cx="3389294" cy="6858000"/>
            <a:chOff x="5754705" y="1"/>
            <a:chExt cx="3389294" cy="6858000"/>
          </a:xfrm>
        </p:grpSpPr>
        <p:sp>
          <p:nvSpPr>
            <p:cNvPr id="25" name="Freeform 24"/>
            <p:cNvSpPr/>
            <p:nvPr userDrawn="1"/>
          </p:nvSpPr>
          <p:spPr>
            <a:xfrm>
              <a:off x="5754705" y="1"/>
              <a:ext cx="1327479" cy="1385522"/>
            </a:xfrm>
            <a:custGeom>
              <a:avLst/>
              <a:gdLst>
                <a:gd name="connsiteX0" fmla="*/ 0 w 1327479"/>
                <a:gd name="connsiteY0" fmla="*/ 0 h 1385522"/>
                <a:gd name="connsiteX1" fmla="*/ 510659 w 1327479"/>
                <a:gd name="connsiteY1" fmla="*/ 0 h 1385522"/>
                <a:gd name="connsiteX2" fmla="*/ 678178 w 1327479"/>
                <a:gd name="connsiteY2" fmla="*/ 235572 h 1385522"/>
                <a:gd name="connsiteX3" fmla="*/ 1284510 w 1327479"/>
                <a:gd name="connsiteY3" fmla="*/ 1290476 h 1385522"/>
                <a:gd name="connsiteX4" fmla="*/ 1327479 w 1327479"/>
                <a:gd name="connsiteY4" fmla="*/ 1385522 h 1385522"/>
                <a:gd name="connsiteX5" fmla="*/ 1122501 w 1327479"/>
                <a:gd name="connsiteY5" fmla="*/ 1124683 h 1385522"/>
                <a:gd name="connsiteX6" fmla="*/ 288518 w 1327479"/>
                <a:gd name="connsiteY6" fmla="*/ 249921 h 1385522"/>
                <a:gd name="connsiteX7" fmla="*/ 0 w 1327479"/>
                <a:gd name="connsiteY7" fmla="*/ 0 h 138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7479" h="1385522">
                  <a:moveTo>
                    <a:pt x="0" y="0"/>
                  </a:moveTo>
                  <a:lnTo>
                    <a:pt x="510659" y="0"/>
                  </a:lnTo>
                  <a:lnTo>
                    <a:pt x="678178" y="235572"/>
                  </a:lnTo>
                  <a:cubicBezTo>
                    <a:pt x="904637" y="570776"/>
                    <a:pt x="1107539" y="923203"/>
                    <a:pt x="1284510" y="1290476"/>
                  </a:cubicBezTo>
                  <a:lnTo>
                    <a:pt x="1327479" y="1385522"/>
                  </a:lnTo>
                  <a:lnTo>
                    <a:pt x="1122501" y="1124683"/>
                  </a:lnTo>
                  <a:cubicBezTo>
                    <a:pt x="865688" y="813498"/>
                    <a:pt x="586902" y="521119"/>
                    <a:pt x="288518" y="2499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7082183" y="1385523"/>
              <a:ext cx="1713414" cy="5472478"/>
            </a:xfrm>
            <a:custGeom>
              <a:avLst/>
              <a:gdLst>
                <a:gd name="connsiteX0" fmla="*/ 0 w 1713414"/>
                <a:gd name="connsiteY0" fmla="*/ 0 h 5472478"/>
                <a:gd name="connsiteX1" fmla="*/ 44422 w 1713414"/>
                <a:gd name="connsiteY1" fmla="*/ 56527 h 5472478"/>
                <a:gd name="connsiteX2" fmla="*/ 1713414 w 1713414"/>
                <a:gd name="connsiteY2" fmla="*/ 5083009 h 5472478"/>
                <a:gd name="connsiteX3" fmla="*/ 1703566 w 1713414"/>
                <a:gd name="connsiteY3" fmla="*/ 5472478 h 5472478"/>
                <a:gd name="connsiteX4" fmla="*/ 561192 w 1713414"/>
                <a:gd name="connsiteY4" fmla="*/ 5472478 h 5472478"/>
                <a:gd name="connsiteX5" fmla="*/ 614787 w 1713414"/>
                <a:gd name="connsiteY5" fmla="*/ 5240262 h 5472478"/>
                <a:gd name="connsiteX6" fmla="*/ 785466 w 1713414"/>
                <a:gd name="connsiteY6" fmla="*/ 3547157 h 5472478"/>
                <a:gd name="connsiteX7" fmla="*/ 125270 w 1713414"/>
                <a:gd name="connsiteY7" fmla="*/ 277089 h 5472478"/>
                <a:gd name="connsiteX8" fmla="*/ 0 w 1713414"/>
                <a:gd name="connsiteY8" fmla="*/ 0 h 547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3414" h="5472478">
                  <a:moveTo>
                    <a:pt x="0" y="0"/>
                  </a:moveTo>
                  <a:lnTo>
                    <a:pt x="44422" y="56527"/>
                  </a:lnTo>
                  <a:cubicBezTo>
                    <a:pt x="1092654" y="1458180"/>
                    <a:pt x="1713414" y="3198102"/>
                    <a:pt x="1713414" y="5083009"/>
                  </a:cubicBezTo>
                  <a:lnTo>
                    <a:pt x="1703566" y="5472478"/>
                  </a:lnTo>
                  <a:lnTo>
                    <a:pt x="561192" y="5472478"/>
                  </a:lnTo>
                  <a:lnTo>
                    <a:pt x="614787" y="5240262"/>
                  </a:lnTo>
                  <a:cubicBezTo>
                    <a:pt x="726696" y="4693373"/>
                    <a:pt x="785466" y="4127129"/>
                    <a:pt x="785466" y="3547157"/>
                  </a:cubicBezTo>
                  <a:cubicBezTo>
                    <a:pt x="785466" y="2387214"/>
                    <a:pt x="550386" y="1282177"/>
                    <a:pt x="125270" y="2770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 userDrawn="1"/>
          </p:nvSpPr>
          <p:spPr>
            <a:xfrm>
              <a:off x="6265363" y="1"/>
              <a:ext cx="2878636" cy="6858000"/>
            </a:xfrm>
            <a:custGeom>
              <a:avLst/>
              <a:gdLst>
                <a:gd name="connsiteX0" fmla="*/ 0 w 2878636"/>
                <a:gd name="connsiteY0" fmla="*/ 0 h 6858000"/>
                <a:gd name="connsiteX1" fmla="*/ 2878636 w 2878636"/>
                <a:gd name="connsiteY1" fmla="*/ 0 h 6858000"/>
                <a:gd name="connsiteX2" fmla="*/ 2878636 w 2878636"/>
                <a:gd name="connsiteY2" fmla="*/ 6858000 h 6858000"/>
                <a:gd name="connsiteX3" fmla="*/ 2520386 w 2878636"/>
                <a:gd name="connsiteY3" fmla="*/ 6858000 h 6858000"/>
                <a:gd name="connsiteX4" fmla="*/ 2530234 w 2878636"/>
                <a:gd name="connsiteY4" fmla="*/ 6468531 h 6858000"/>
                <a:gd name="connsiteX5" fmla="*/ 861242 w 2878636"/>
                <a:gd name="connsiteY5" fmla="*/ 1442049 h 6858000"/>
                <a:gd name="connsiteX6" fmla="*/ 816820 w 2878636"/>
                <a:gd name="connsiteY6" fmla="*/ 1385522 h 6858000"/>
                <a:gd name="connsiteX7" fmla="*/ 773851 w 2878636"/>
                <a:gd name="connsiteY7" fmla="*/ 1290476 h 6858000"/>
                <a:gd name="connsiteX8" fmla="*/ 167519 w 2878636"/>
                <a:gd name="connsiteY8" fmla="*/ 235572 h 6858000"/>
                <a:gd name="connsiteX9" fmla="*/ 0 w 2878636"/>
                <a:gd name="connsiteY9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8636" h="6858000">
                  <a:moveTo>
                    <a:pt x="0" y="0"/>
                  </a:moveTo>
                  <a:lnTo>
                    <a:pt x="2878636" y="0"/>
                  </a:lnTo>
                  <a:lnTo>
                    <a:pt x="2878636" y="6858000"/>
                  </a:lnTo>
                  <a:lnTo>
                    <a:pt x="2520386" y="6858000"/>
                  </a:lnTo>
                  <a:lnTo>
                    <a:pt x="2530234" y="6468531"/>
                  </a:lnTo>
                  <a:cubicBezTo>
                    <a:pt x="2530234" y="4583624"/>
                    <a:pt x="1909474" y="2843702"/>
                    <a:pt x="861242" y="1442049"/>
                  </a:cubicBezTo>
                  <a:lnTo>
                    <a:pt x="816820" y="1385522"/>
                  </a:lnTo>
                  <a:lnTo>
                    <a:pt x="773851" y="1290476"/>
                  </a:lnTo>
                  <a:cubicBezTo>
                    <a:pt x="596880" y="923203"/>
                    <a:pt x="393978" y="570776"/>
                    <a:pt x="167519" y="2355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6962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94100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4100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25" name="Freeform 24"/>
          <p:cNvSpPr/>
          <p:nvPr userDrawn="1"/>
        </p:nvSpPr>
        <p:spPr>
          <a:xfrm flipH="1">
            <a:off x="1753808" y="1"/>
            <a:ext cx="1327479" cy="1385522"/>
          </a:xfrm>
          <a:custGeom>
            <a:avLst/>
            <a:gdLst>
              <a:gd name="connsiteX0" fmla="*/ 0 w 1327479"/>
              <a:gd name="connsiteY0" fmla="*/ 0 h 1385522"/>
              <a:gd name="connsiteX1" fmla="*/ 510659 w 1327479"/>
              <a:gd name="connsiteY1" fmla="*/ 0 h 1385522"/>
              <a:gd name="connsiteX2" fmla="*/ 678178 w 1327479"/>
              <a:gd name="connsiteY2" fmla="*/ 235572 h 1385522"/>
              <a:gd name="connsiteX3" fmla="*/ 1284510 w 1327479"/>
              <a:gd name="connsiteY3" fmla="*/ 1290476 h 1385522"/>
              <a:gd name="connsiteX4" fmla="*/ 1327479 w 1327479"/>
              <a:gd name="connsiteY4" fmla="*/ 1385522 h 1385522"/>
              <a:gd name="connsiteX5" fmla="*/ 1122501 w 1327479"/>
              <a:gd name="connsiteY5" fmla="*/ 1124683 h 1385522"/>
              <a:gd name="connsiteX6" fmla="*/ 288518 w 1327479"/>
              <a:gd name="connsiteY6" fmla="*/ 249921 h 1385522"/>
              <a:gd name="connsiteX7" fmla="*/ 0 w 1327479"/>
              <a:gd name="connsiteY7" fmla="*/ 0 h 13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79" h="1385522">
                <a:moveTo>
                  <a:pt x="0" y="0"/>
                </a:moveTo>
                <a:lnTo>
                  <a:pt x="510659" y="0"/>
                </a:lnTo>
                <a:lnTo>
                  <a:pt x="678178" y="235572"/>
                </a:lnTo>
                <a:cubicBezTo>
                  <a:pt x="904637" y="570776"/>
                  <a:pt x="1107539" y="923203"/>
                  <a:pt x="1284510" y="1290476"/>
                </a:cubicBezTo>
                <a:lnTo>
                  <a:pt x="1327479" y="1385522"/>
                </a:lnTo>
                <a:lnTo>
                  <a:pt x="1122501" y="1124683"/>
                </a:lnTo>
                <a:cubicBezTo>
                  <a:pt x="865688" y="813498"/>
                  <a:pt x="586902" y="521119"/>
                  <a:pt x="288518" y="249921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 userDrawn="1"/>
        </p:nvSpPr>
        <p:spPr>
          <a:xfrm flipH="1">
            <a:off x="40395" y="1385523"/>
            <a:ext cx="1713414" cy="5472478"/>
          </a:xfrm>
          <a:custGeom>
            <a:avLst/>
            <a:gdLst>
              <a:gd name="connsiteX0" fmla="*/ 0 w 1713414"/>
              <a:gd name="connsiteY0" fmla="*/ 0 h 5472478"/>
              <a:gd name="connsiteX1" fmla="*/ 44422 w 1713414"/>
              <a:gd name="connsiteY1" fmla="*/ 56527 h 5472478"/>
              <a:gd name="connsiteX2" fmla="*/ 1713414 w 1713414"/>
              <a:gd name="connsiteY2" fmla="*/ 5083009 h 5472478"/>
              <a:gd name="connsiteX3" fmla="*/ 1703566 w 1713414"/>
              <a:gd name="connsiteY3" fmla="*/ 5472478 h 5472478"/>
              <a:gd name="connsiteX4" fmla="*/ 561192 w 1713414"/>
              <a:gd name="connsiteY4" fmla="*/ 5472478 h 5472478"/>
              <a:gd name="connsiteX5" fmla="*/ 614787 w 1713414"/>
              <a:gd name="connsiteY5" fmla="*/ 5240262 h 5472478"/>
              <a:gd name="connsiteX6" fmla="*/ 785466 w 1713414"/>
              <a:gd name="connsiteY6" fmla="*/ 3547157 h 5472478"/>
              <a:gd name="connsiteX7" fmla="*/ 125270 w 1713414"/>
              <a:gd name="connsiteY7" fmla="*/ 277089 h 5472478"/>
              <a:gd name="connsiteX8" fmla="*/ 0 w 1713414"/>
              <a:gd name="connsiteY8" fmla="*/ 0 h 54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3414" h="5472478">
                <a:moveTo>
                  <a:pt x="0" y="0"/>
                </a:moveTo>
                <a:lnTo>
                  <a:pt x="44422" y="56527"/>
                </a:lnTo>
                <a:cubicBezTo>
                  <a:pt x="1092654" y="1458180"/>
                  <a:pt x="1713414" y="3198102"/>
                  <a:pt x="1713414" y="5083009"/>
                </a:cubicBezTo>
                <a:lnTo>
                  <a:pt x="1703566" y="5472478"/>
                </a:lnTo>
                <a:lnTo>
                  <a:pt x="561192" y="5472478"/>
                </a:lnTo>
                <a:lnTo>
                  <a:pt x="614787" y="5240262"/>
                </a:lnTo>
                <a:cubicBezTo>
                  <a:pt x="726696" y="4693373"/>
                  <a:pt x="785466" y="4127129"/>
                  <a:pt x="785466" y="3547157"/>
                </a:cubicBezTo>
                <a:cubicBezTo>
                  <a:pt x="785466" y="2387214"/>
                  <a:pt x="550386" y="1282177"/>
                  <a:pt x="125270" y="277089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 flipH="1">
            <a:off x="-308007" y="1"/>
            <a:ext cx="2878636" cy="6858000"/>
          </a:xfrm>
          <a:custGeom>
            <a:avLst/>
            <a:gdLst>
              <a:gd name="connsiteX0" fmla="*/ 0 w 2878636"/>
              <a:gd name="connsiteY0" fmla="*/ 0 h 6858000"/>
              <a:gd name="connsiteX1" fmla="*/ 2878636 w 2878636"/>
              <a:gd name="connsiteY1" fmla="*/ 0 h 6858000"/>
              <a:gd name="connsiteX2" fmla="*/ 2878636 w 2878636"/>
              <a:gd name="connsiteY2" fmla="*/ 6858000 h 6858000"/>
              <a:gd name="connsiteX3" fmla="*/ 2520386 w 2878636"/>
              <a:gd name="connsiteY3" fmla="*/ 6858000 h 6858000"/>
              <a:gd name="connsiteX4" fmla="*/ 2530234 w 2878636"/>
              <a:gd name="connsiteY4" fmla="*/ 6468531 h 6858000"/>
              <a:gd name="connsiteX5" fmla="*/ 861242 w 2878636"/>
              <a:gd name="connsiteY5" fmla="*/ 1442049 h 6858000"/>
              <a:gd name="connsiteX6" fmla="*/ 816820 w 2878636"/>
              <a:gd name="connsiteY6" fmla="*/ 1385522 h 6858000"/>
              <a:gd name="connsiteX7" fmla="*/ 773851 w 2878636"/>
              <a:gd name="connsiteY7" fmla="*/ 1290476 h 6858000"/>
              <a:gd name="connsiteX8" fmla="*/ 167519 w 2878636"/>
              <a:gd name="connsiteY8" fmla="*/ 235572 h 6858000"/>
              <a:gd name="connsiteX9" fmla="*/ 0 w 287863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78636" h="6858000">
                <a:moveTo>
                  <a:pt x="0" y="0"/>
                </a:moveTo>
                <a:lnTo>
                  <a:pt x="2878636" y="0"/>
                </a:lnTo>
                <a:lnTo>
                  <a:pt x="2878636" y="6858000"/>
                </a:lnTo>
                <a:lnTo>
                  <a:pt x="2520386" y="6858000"/>
                </a:lnTo>
                <a:lnTo>
                  <a:pt x="2530234" y="6468531"/>
                </a:lnTo>
                <a:cubicBezTo>
                  <a:pt x="2530234" y="4583624"/>
                  <a:pt x="1909474" y="2843702"/>
                  <a:pt x="861242" y="1442049"/>
                </a:cubicBezTo>
                <a:lnTo>
                  <a:pt x="816820" y="1385522"/>
                </a:lnTo>
                <a:lnTo>
                  <a:pt x="773851" y="1290476"/>
                </a:lnTo>
                <a:cubicBezTo>
                  <a:pt x="596880" y="923203"/>
                  <a:pt x="393978" y="570776"/>
                  <a:pt x="167519" y="235572"/>
                </a:cubicBezTo>
                <a:lnTo>
                  <a:pt x="0" y="0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4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45973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45973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18" name="Freeform 17"/>
          <p:cNvSpPr/>
          <p:nvPr userDrawn="1"/>
        </p:nvSpPr>
        <p:spPr>
          <a:xfrm rot="563881">
            <a:off x="1578255" y="-48578"/>
            <a:ext cx="592758" cy="2150303"/>
          </a:xfrm>
          <a:custGeom>
            <a:avLst/>
            <a:gdLst>
              <a:gd name="connsiteX0" fmla="*/ 0 w 592758"/>
              <a:gd name="connsiteY0" fmla="*/ 83668 h 2150303"/>
              <a:gd name="connsiteX1" fmla="*/ 505503 w 592758"/>
              <a:gd name="connsiteY1" fmla="*/ 0 h 2150303"/>
              <a:gd name="connsiteX2" fmla="*/ 506652 w 592758"/>
              <a:gd name="connsiteY2" fmla="*/ 7591 h 2150303"/>
              <a:gd name="connsiteX3" fmla="*/ 440527 w 592758"/>
              <a:gd name="connsiteY3" fmla="*/ 2045973 h 2150303"/>
              <a:gd name="connsiteX4" fmla="*/ 419302 w 592758"/>
              <a:gd name="connsiteY4" fmla="*/ 2150303 h 2150303"/>
              <a:gd name="connsiteX5" fmla="*/ 419605 w 592758"/>
              <a:gd name="connsiteY5" fmla="*/ 2139855 h 2150303"/>
              <a:gd name="connsiteX6" fmla="*/ 24072 w 592758"/>
              <a:gd name="connsiteY6" fmla="*/ 153518 h 2150303"/>
              <a:gd name="connsiteX7" fmla="*/ 0 w 592758"/>
              <a:gd name="connsiteY7" fmla="*/ 83668 h 215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758" h="2150303">
                <a:moveTo>
                  <a:pt x="0" y="83668"/>
                </a:moveTo>
                <a:lnTo>
                  <a:pt x="505503" y="0"/>
                </a:lnTo>
                <a:lnTo>
                  <a:pt x="506652" y="7591"/>
                </a:lnTo>
                <a:cubicBezTo>
                  <a:pt x="659496" y="1043386"/>
                  <a:pt x="591002" y="1314491"/>
                  <a:pt x="440527" y="2045973"/>
                </a:cubicBezTo>
                <a:lnTo>
                  <a:pt x="419302" y="2150303"/>
                </a:lnTo>
                <a:lnTo>
                  <a:pt x="419605" y="2139855"/>
                </a:lnTo>
                <a:cubicBezTo>
                  <a:pt x="430909" y="1600210"/>
                  <a:pt x="380505" y="1198370"/>
                  <a:pt x="24072" y="153518"/>
                </a:cubicBezTo>
                <a:lnTo>
                  <a:pt x="0" y="83668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rot="563881">
            <a:off x="415858" y="1991920"/>
            <a:ext cx="1004507" cy="4981526"/>
          </a:xfrm>
          <a:custGeom>
            <a:avLst/>
            <a:gdLst>
              <a:gd name="connsiteX0" fmla="*/ 1004507 w 1004507"/>
              <a:gd name="connsiteY0" fmla="*/ 0 h 4981526"/>
              <a:gd name="connsiteX1" fmla="*/ 1000622 w 1004507"/>
              <a:gd name="connsiteY1" fmla="*/ 133969 h 4981526"/>
              <a:gd name="connsiteX2" fmla="*/ 980899 w 1004507"/>
              <a:gd name="connsiteY2" fmla="*/ 635533 h 4981526"/>
              <a:gd name="connsiteX3" fmla="*/ 845366 w 1004507"/>
              <a:gd name="connsiteY3" fmla="*/ 4841607 h 4981526"/>
              <a:gd name="connsiteX4" fmla="*/ 0 w 1004507"/>
              <a:gd name="connsiteY4" fmla="*/ 4981526 h 4981526"/>
              <a:gd name="connsiteX5" fmla="*/ 989615 w 1004507"/>
              <a:gd name="connsiteY5" fmla="*/ 73203 h 4981526"/>
              <a:gd name="connsiteX6" fmla="*/ 1004507 w 1004507"/>
              <a:gd name="connsiteY6" fmla="*/ 0 h 4981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4507" h="4981526">
                <a:moveTo>
                  <a:pt x="1004507" y="0"/>
                </a:moveTo>
                <a:lnTo>
                  <a:pt x="1000622" y="133969"/>
                </a:lnTo>
                <a:cubicBezTo>
                  <a:pt x="995356" y="282538"/>
                  <a:pt x="987335" y="445105"/>
                  <a:pt x="980899" y="635533"/>
                </a:cubicBezTo>
                <a:lnTo>
                  <a:pt x="845366" y="4841607"/>
                </a:lnTo>
                <a:lnTo>
                  <a:pt x="0" y="4981526"/>
                </a:lnTo>
                <a:lnTo>
                  <a:pt x="989615" y="73203"/>
                </a:lnTo>
                <a:lnTo>
                  <a:pt x="1004507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 rot="563881">
            <a:off x="-897276" y="-182510"/>
            <a:ext cx="2493086" cy="7108907"/>
          </a:xfrm>
          <a:custGeom>
            <a:avLst/>
            <a:gdLst>
              <a:gd name="connsiteX0" fmla="*/ 0 w 2493086"/>
              <a:gd name="connsiteY0" fmla="*/ 342956 h 7108907"/>
              <a:gd name="connsiteX1" fmla="*/ 2072078 w 2493086"/>
              <a:gd name="connsiteY1" fmla="*/ 0 h 7108907"/>
              <a:gd name="connsiteX2" fmla="*/ 2096150 w 2493086"/>
              <a:gd name="connsiteY2" fmla="*/ 69850 h 7108907"/>
              <a:gd name="connsiteX3" fmla="*/ 2491683 w 2493086"/>
              <a:gd name="connsiteY3" fmla="*/ 2056187 h 7108907"/>
              <a:gd name="connsiteX4" fmla="*/ 2491380 w 2493086"/>
              <a:gd name="connsiteY4" fmla="*/ 2066635 h 7108907"/>
              <a:gd name="connsiteX5" fmla="*/ 2476488 w 2493086"/>
              <a:gd name="connsiteY5" fmla="*/ 2139838 h 7108907"/>
              <a:gd name="connsiteX6" fmla="*/ 1486873 w 2493086"/>
              <a:gd name="connsiteY6" fmla="*/ 7048161 h 7108907"/>
              <a:gd name="connsiteX7" fmla="*/ 1119855 w 2493086"/>
              <a:gd name="connsiteY7" fmla="*/ 7108907 h 7108907"/>
              <a:gd name="connsiteX8" fmla="*/ 0 w 2493086"/>
              <a:gd name="connsiteY8" fmla="*/ 342956 h 71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086" h="7108907">
                <a:moveTo>
                  <a:pt x="0" y="342956"/>
                </a:moveTo>
                <a:lnTo>
                  <a:pt x="2072078" y="0"/>
                </a:lnTo>
                <a:lnTo>
                  <a:pt x="2096150" y="69850"/>
                </a:lnTo>
                <a:cubicBezTo>
                  <a:pt x="2452583" y="1114702"/>
                  <a:pt x="2502987" y="1516542"/>
                  <a:pt x="2491683" y="2056187"/>
                </a:cubicBezTo>
                <a:lnTo>
                  <a:pt x="2491380" y="2066635"/>
                </a:lnTo>
                <a:lnTo>
                  <a:pt x="2476488" y="2139838"/>
                </a:lnTo>
                <a:lnTo>
                  <a:pt x="1486873" y="7048161"/>
                </a:lnTo>
                <a:lnTo>
                  <a:pt x="1119855" y="7108907"/>
                </a:lnTo>
                <a:lnTo>
                  <a:pt x="0" y="342956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48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6982672" y="-182510"/>
            <a:ext cx="3068289" cy="7155956"/>
            <a:chOff x="-541142" y="-182510"/>
            <a:chExt cx="3068289" cy="7155956"/>
          </a:xfrm>
        </p:grpSpPr>
        <p:sp>
          <p:nvSpPr>
            <p:cNvPr id="18" name="Freeform 17"/>
            <p:cNvSpPr/>
            <p:nvPr userDrawn="1"/>
          </p:nvSpPr>
          <p:spPr>
            <a:xfrm rot="563881">
              <a:off x="1934389" y="-48578"/>
              <a:ext cx="592758" cy="2150303"/>
            </a:xfrm>
            <a:custGeom>
              <a:avLst/>
              <a:gdLst>
                <a:gd name="connsiteX0" fmla="*/ 0 w 592758"/>
                <a:gd name="connsiteY0" fmla="*/ 83668 h 2150303"/>
                <a:gd name="connsiteX1" fmla="*/ 505503 w 592758"/>
                <a:gd name="connsiteY1" fmla="*/ 0 h 2150303"/>
                <a:gd name="connsiteX2" fmla="*/ 506652 w 592758"/>
                <a:gd name="connsiteY2" fmla="*/ 7591 h 2150303"/>
                <a:gd name="connsiteX3" fmla="*/ 440527 w 592758"/>
                <a:gd name="connsiteY3" fmla="*/ 2045973 h 2150303"/>
                <a:gd name="connsiteX4" fmla="*/ 419302 w 592758"/>
                <a:gd name="connsiteY4" fmla="*/ 2150303 h 2150303"/>
                <a:gd name="connsiteX5" fmla="*/ 419605 w 592758"/>
                <a:gd name="connsiteY5" fmla="*/ 2139855 h 2150303"/>
                <a:gd name="connsiteX6" fmla="*/ 24072 w 592758"/>
                <a:gd name="connsiteY6" fmla="*/ 153518 h 2150303"/>
                <a:gd name="connsiteX7" fmla="*/ 0 w 592758"/>
                <a:gd name="connsiteY7" fmla="*/ 83668 h 21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2758" h="2150303">
                  <a:moveTo>
                    <a:pt x="0" y="83668"/>
                  </a:moveTo>
                  <a:lnTo>
                    <a:pt x="505503" y="0"/>
                  </a:lnTo>
                  <a:lnTo>
                    <a:pt x="506652" y="7591"/>
                  </a:lnTo>
                  <a:cubicBezTo>
                    <a:pt x="659496" y="1043386"/>
                    <a:pt x="591002" y="1314491"/>
                    <a:pt x="440527" y="2045973"/>
                  </a:cubicBezTo>
                  <a:lnTo>
                    <a:pt x="419302" y="2150303"/>
                  </a:lnTo>
                  <a:lnTo>
                    <a:pt x="419605" y="2139855"/>
                  </a:lnTo>
                  <a:cubicBezTo>
                    <a:pt x="430909" y="1600210"/>
                    <a:pt x="380505" y="1198370"/>
                    <a:pt x="24072" y="153518"/>
                  </a:cubicBezTo>
                  <a:lnTo>
                    <a:pt x="0" y="83668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 userDrawn="1"/>
          </p:nvSpPr>
          <p:spPr>
            <a:xfrm rot="563881">
              <a:off x="771992" y="1991920"/>
              <a:ext cx="1004507" cy="4981526"/>
            </a:xfrm>
            <a:custGeom>
              <a:avLst/>
              <a:gdLst>
                <a:gd name="connsiteX0" fmla="*/ 1004507 w 1004507"/>
                <a:gd name="connsiteY0" fmla="*/ 0 h 4981526"/>
                <a:gd name="connsiteX1" fmla="*/ 1000622 w 1004507"/>
                <a:gd name="connsiteY1" fmla="*/ 133969 h 4981526"/>
                <a:gd name="connsiteX2" fmla="*/ 980899 w 1004507"/>
                <a:gd name="connsiteY2" fmla="*/ 635533 h 4981526"/>
                <a:gd name="connsiteX3" fmla="*/ 845366 w 1004507"/>
                <a:gd name="connsiteY3" fmla="*/ 4841607 h 4981526"/>
                <a:gd name="connsiteX4" fmla="*/ 0 w 1004507"/>
                <a:gd name="connsiteY4" fmla="*/ 4981526 h 4981526"/>
                <a:gd name="connsiteX5" fmla="*/ 989615 w 1004507"/>
                <a:gd name="connsiteY5" fmla="*/ 73203 h 4981526"/>
                <a:gd name="connsiteX6" fmla="*/ 1004507 w 1004507"/>
                <a:gd name="connsiteY6" fmla="*/ 0 h 498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4507" h="4981526">
                  <a:moveTo>
                    <a:pt x="1004507" y="0"/>
                  </a:moveTo>
                  <a:lnTo>
                    <a:pt x="1000622" y="133969"/>
                  </a:lnTo>
                  <a:cubicBezTo>
                    <a:pt x="995356" y="282538"/>
                    <a:pt x="987335" y="445105"/>
                    <a:pt x="980899" y="635533"/>
                  </a:cubicBezTo>
                  <a:lnTo>
                    <a:pt x="845366" y="4841607"/>
                  </a:lnTo>
                  <a:lnTo>
                    <a:pt x="0" y="4981526"/>
                  </a:lnTo>
                  <a:lnTo>
                    <a:pt x="989615" y="73203"/>
                  </a:lnTo>
                  <a:lnTo>
                    <a:pt x="1004507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 userDrawn="1"/>
          </p:nvSpPr>
          <p:spPr>
            <a:xfrm rot="563881">
              <a:off x="-541142" y="-182510"/>
              <a:ext cx="2493086" cy="7108907"/>
            </a:xfrm>
            <a:custGeom>
              <a:avLst/>
              <a:gdLst>
                <a:gd name="connsiteX0" fmla="*/ 0 w 2493086"/>
                <a:gd name="connsiteY0" fmla="*/ 342956 h 7108907"/>
                <a:gd name="connsiteX1" fmla="*/ 2072078 w 2493086"/>
                <a:gd name="connsiteY1" fmla="*/ 0 h 7108907"/>
                <a:gd name="connsiteX2" fmla="*/ 2096150 w 2493086"/>
                <a:gd name="connsiteY2" fmla="*/ 69850 h 7108907"/>
                <a:gd name="connsiteX3" fmla="*/ 2491683 w 2493086"/>
                <a:gd name="connsiteY3" fmla="*/ 2056187 h 7108907"/>
                <a:gd name="connsiteX4" fmla="*/ 2491380 w 2493086"/>
                <a:gd name="connsiteY4" fmla="*/ 2066635 h 7108907"/>
                <a:gd name="connsiteX5" fmla="*/ 2476488 w 2493086"/>
                <a:gd name="connsiteY5" fmla="*/ 2139838 h 7108907"/>
                <a:gd name="connsiteX6" fmla="*/ 1486873 w 2493086"/>
                <a:gd name="connsiteY6" fmla="*/ 7048161 h 7108907"/>
                <a:gd name="connsiteX7" fmla="*/ 1119855 w 2493086"/>
                <a:gd name="connsiteY7" fmla="*/ 7108907 h 7108907"/>
                <a:gd name="connsiteX8" fmla="*/ 0 w 2493086"/>
                <a:gd name="connsiteY8" fmla="*/ 342956 h 710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3086" h="7108907">
                  <a:moveTo>
                    <a:pt x="0" y="342956"/>
                  </a:moveTo>
                  <a:lnTo>
                    <a:pt x="2072078" y="0"/>
                  </a:lnTo>
                  <a:lnTo>
                    <a:pt x="2096150" y="69850"/>
                  </a:lnTo>
                  <a:cubicBezTo>
                    <a:pt x="2452583" y="1114702"/>
                    <a:pt x="2502987" y="1516542"/>
                    <a:pt x="2491683" y="2056187"/>
                  </a:cubicBezTo>
                  <a:lnTo>
                    <a:pt x="2491380" y="2066635"/>
                  </a:lnTo>
                  <a:lnTo>
                    <a:pt x="2476488" y="2139838"/>
                  </a:lnTo>
                  <a:lnTo>
                    <a:pt x="1486873" y="7048161"/>
                  </a:lnTo>
                  <a:lnTo>
                    <a:pt x="1119855" y="7108907"/>
                  </a:lnTo>
                  <a:lnTo>
                    <a:pt x="0" y="342956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024040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/>
          </p:cNvSpPr>
          <p:nvPr userDrawn="1"/>
        </p:nvSpPr>
        <p:spPr>
          <a:xfrm rot="1859265">
            <a:off x="4010115" y="374206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lnTo>
                  <a:pt x="3017940" y="1735571"/>
                </a:lnTo>
                <a:cubicBezTo>
                  <a:pt x="2192531" y="995908"/>
                  <a:pt x="1193572" y="525963"/>
                  <a:pt x="56031" y="374148"/>
                </a:cubicBezTo>
                <a:close/>
              </a:path>
            </a:pathLst>
          </a:custGeom>
          <a:solidFill>
            <a:srgbClr val="531C4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531C40"/>
              </a:solidFill>
            </a:endParaRPr>
          </a:p>
        </p:txBody>
      </p:sp>
      <p:sp>
        <p:nvSpPr>
          <p:cNvPr id="9" name="TextBox 8"/>
          <p:cNvSpPr txBox="1">
            <a:spLocks/>
          </p:cNvSpPr>
          <p:nvPr userDrawn="1"/>
        </p:nvSpPr>
        <p:spPr>
          <a:xfrm rot="1859265">
            <a:off x="5427310" y="3217352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88947" y="1117232"/>
                  <a:pt x="147049" y="198900"/>
                </a:cubicBezTo>
                <a:close/>
              </a:path>
            </a:pathLst>
          </a:custGeom>
          <a:solidFill>
            <a:srgbClr val="3D002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1A2A4F"/>
              </a:solidFill>
            </a:endParaRP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263986" y="-9600"/>
            <a:ext cx="3896484" cy="6894392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2573 w 10000"/>
              <a:gd name="connsiteY0" fmla="*/ 445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2573 w 10000"/>
              <a:gd name="connsiteY5" fmla="*/ 4450 h 10000"/>
              <a:gd name="connsiteX0" fmla="*/ 2495 w 9922"/>
              <a:gd name="connsiteY0" fmla="*/ 4450 h 10000"/>
              <a:gd name="connsiteX1" fmla="*/ 1 w 9922"/>
              <a:gd name="connsiteY1" fmla="*/ 0 h 10000"/>
              <a:gd name="connsiteX2" fmla="*/ 9922 w 9922"/>
              <a:gd name="connsiteY2" fmla="*/ 0 h 10000"/>
              <a:gd name="connsiteX3" fmla="*/ 9922 w 9922"/>
              <a:gd name="connsiteY3" fmla="*/ 10000 h 10000"/>
              <a:gd name="connsiteX4" fmla="*/ 2306 w 9922"/>
              <a:gd name="connsiteY4" fmla="*/ 10000 h 10000"/>
              <a:gd name="connsiteX5" fmla="*/ 2495 w 9922"/>
              <a:gd name="connsiteY5" fmla="*/ 4450 h 10000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471 w 10000"/>
              <a:gd name="connsiteY4" fmla="*/ 10005 h 10005"/>
              <a:gd name="connsiteX5" fmla="*/ 2515 w 10000"/>
              <a:gd name="connsiteY5" fmla="*/ 4450 h 10005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15 w 10000"/>
              <a:gd name="connsiteY5" fmla="*/ 4450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2 h 10000"/>
              <a:gd name="connsiteX1" fmla="*/ 0 w 10059"/>
              <a:gd name="connsiteY1" fmla="*/ 0 h 10000"/>
              <a:gd name="connsiteX2" fmla="*/ 7266 w 10059"/>
              <a:gd name="connsiteY2" fmla="*/ 21 h 10000"/>
              <a:gd name="connsiteX3" fmla="*/ 10059 w 10059"/>
              <a:gd name="connsiteY3" fmla="*/ 9995 h 10000"/>
              <a:gd name="connsiteX4" fmla="*/ 2383 w 10059"/>
              <a:gd name="connsiteY4" fmla="*/ 10000 h 10000"/>
              <a:gd name="connsiteX5" fmla="*/ 2601 w 10059"/>
              <a:gd name="connsiteY5" fmla="*/ 4362 h 10000"/>
              <a:gd name="connsiteX0" fmla="*/ 2601 w 10059"/>
              <a:gd name="connsiteY0" fmla="*/ 4381 h 10019"/>
              <a:gd name="connsiteX1" fmla="*/ 0 w 10059"/>
              <a:gd name="connsiteY1" fmla="*/ 19 h 10019"/>
              <a:gd name="connsiteX2" fmla="*/ 8159 w 10059"/>
              <a:gd name="connsiteY2" fmla="*/ 0 h 10019"/>
              <a:gd name="connsiteX3" fmla="*/ 10059 w 10059"/>
              <a:gd name="connsiteY3" fmla="*/ 10014 h 10019"/>
              <a:gd name="connsiteX4" fmla="*/ 2383 w 10059"/>
              <a:gd name="connsiteY4" fmla="*/ 10019 h 10019"/>
              <a:gd name="connsiteX5" fmla="*/ 2601 w 10059"/>
              <a:gd name="connsiteY5" fmla="*/ 4381 h 10019"/>
              <a:gd name="connsiteX0" fmla="*/ 2601 w 8159"/>
              <a:gd name="connsiteY0" fmla="*/ 4381 h 10019"/>
              <a:gd name="connsiteX1" fmla="*/ 0 w 8159"/>
              <a:gd name="connsiteY1" fmla="*/ 19 h 10019"/>
              <a:gd name="connsiteX2" fmla="*/ 8159 w 8159"/>
              <a:gd name="connsiteY2" fmla="*/ 0 h 10019"/>
              <a:gd name="connsiteX3" fmla="*/ 6582 w 8159"/>
              <a:gd name="connsiteY3" fmla="*/ 9974 h 10019"/>
              <a:gd name="connsiteX4" fmla="*/ 2383 w 8159"/>
              <a:gd name="connsiteY4" fmla="*/ 10019 h 10019"/>
              <a:gd name="connsiteX5" fmla="*/ 2601 w 8159"/>
              <a:gd name="connsiteY5" fmla="*/ 4381 h 10019"/>
              <a:gd name="connsiteX0" fmla="*/ 3188 w 10023"/>
              <a:gd name="connsiteY0" fmla="*/ 4373 h 10034"/>
              <a:gd name="connsiteX1" fmla="*/ 0 w 10023"/>
              <a:gd name="connsiteY1" fmla="*/ 19 h 10034"/>
              <a:gd name="connsiteX2" fmla="*/ 10000 w 10023"/>
              <a:gd name="connsiteY2" fmla="*/ 0 h 10034"/>
              <a:gd name="connsiteX3" fmla="*/ 10023 w 10023"/>
              <a:gd name="connsiteY3" fmla="*/ 10034 h 10034"/>
              <a:gd name="connsiteX4" fmla="*/ 2921 w 10023"/>
              <a:gd name="connsiteY4" fmla="*/ 10000 h 10034"/>
              <a:gd name="connsiteX5" fmla="*/ 3188 w 10023"/>
              <a:gd name="connsiteY5" fmla="*/ 4373 h 1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3" h="10034">
                <a:moveTo>
                  <a:pt x="3188" y="4373"/>
                </a:moveTo>
                <a:cubicBezTo>
                  <a:pt x="2933" y="3375"/>
                  <a:pt x="2525" y="1794"/>
                  <a:pt x="0" y="19"/>
                </a:cubicBezTo>
                <a:lnTo>
                  <a:pt x="10000" y="0"/>
                </a:lnTo>
                <a:cubicBezTo>
                  <a:pt x="10008" y="3345"/>
                  <a:pt x="10015" y="6689"/>
                  <a:pt x="10023" y="10034"/>
                </a:cubicBezTo>
                <a:lnTo>
                  <a:pt x="2921" y="10000"/>
                </a:lnTo>
                <a:cubicBezTo>
                  <a:pt x="3673" y="8295"/>
                  <a:pt x="4076" y="6513"/>
                  <a:pt x="3188" y="437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1310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4289143" y="-3176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>
            <a:off x="5762543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5154997" y="-3601"/>
            <a:ext cx="4012145" cy="6877548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638 w 10000"/>
              <a:gd name="connsiteY0" fmla="*/ 2129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638 w 10000"/>
              <a:gd name="connsiteY5" fmla="*/ 2129 h 10000"/>
              <a:gd name="connsiteX0" fmla="*/ 3623 w 9985"/>
              <a:gd name="connsiteY0" fmla="*/ 2129 h 10014"/>
              <a:gd name="connsiteX1" fmla="*/ 1 w 9985"/>
              <a:gd name="connsiteY1" fmla="*/ 29 h 10014"/>
              <a:gd name="connsiteX2" fmla="*/ 9985 w 9985"/>
              <a:gd name="connsiteY2" fmla="*/ 0 h 10014"/>
              <a:gd name="connsiteX3" fmla="*/ 9985 w 9985"/>
              <a:gd name="connsiteY3" fmla="*/ 10000 h 10014"/>
              <a:gd name="connsiteX4" fmla="*/ 2378 w 9985"/>
              <a:gd name="connsiteY4" fmla="*/ 10014 h 10014"/>
              <a:gd name="connsiteX5" fmla="*/ 3623 w 9985"/>
              <a:gd name="connsiteY5" fmla="*/ 2129 h 10014"/>
              <a:gd name="connsiteX0" fmla="*/ 3628 w 10000"/>
              <a:gd name="connsiteY0" fmla="*/ 2126 h 9986"/>
              <a:gd name="connsiteX1" fmla="*/ 1 w 10000"/>
              <a:gd name="connsiteY1" fmla="*/ 29 h 9986"/>
              <a:gd name="connsiteX2" fmla="*/ 10000 w 10000"/>
              <a:gd name="connsiteY2" fmla="*/ 0 h 9986"/>
              <a:gd name="connsiteX3" fmla="*/ 10000 w 10000"/>
              <a:gd name="connsiteY3" fmla="*/ 9986 h 9986"/>
              <a:gd name="connsiteX4" fmla="*/ 2402 w 10000"/>
              <a:gd name="connsiteY4" fmla="*/ 9981 h 9986"/>
              <a:gd name="connsiteX5" fmla="*/ 3628 w 10000"/>
              <a:gd name="connsiteY5" fmla="*/ 2126 h 9986"/>
              <a:gd name="connsiteX0" fmla="*/ 3601 w 10000"/>
              <a:gd name="connsiteY0" fmla="*/ 2095 h 10000"/>
              <a:gd name="connsiteX1" fmla="*/ 1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5 h 10000"/>
              <a:gd name="connsiteX1" fmla="*/ 1 w 10000"/>
              <a:gd name="connsiteY1" fmla="*/ 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6 h 10001"/>
              <a:gd name="connsiteX1" fmla="*/ 1 w 10000"/>
              <a:gd name="connsiteY1" fmla="*/ 0 h 10001"/>
              <a:gd name="connsiteX2" fmla="*/ 10000 w 10000"/>
              <a:gd name="connsiteY2" fmla="*/ 1 h 10001"/>
              <a:gd name="connsiteX3" fmla="*/ 10000 w 10000"/>
              <a:gd name="connsiteY3" fmla="*/ 10001 h 10001"/>
              <a:gd name="connsiteX4" fmla="*/ 2402 w 10000"/>
              <a:gd name="connsiteY4" fmla="*/ 9996 h 10001"/>
              <a:gd name="connsiteX5" fmla="*/ 3601 w 10000"/>
              <a:gd name="connsiteY5" fmla="*/ 2096 h 10001"/>
              <a:gd name="connsiteX0" fmla="*/ 3600 w 9999"/>
              <a:gd name="connsiteY0" fmla="*/ 2096 h 10001"/>
              <a:gd name="connsiteX1" fmla="*/ 0 w 9999"/>
              <a:gd name="connsiteY1" fmla="*/ 0 h 10001"/>
              <a:gd name="connsiteX2" fmla="*/ 9999 w 9999"/>
              <a:gd name="connsiteY2" fmla="*/ 1 h 10001"/>
              <a:gd name="connsiteX3" fmla="*/ 9999 w 9999"/>
              <a:gd name="connsiteY3" fmla="*/ 10001 h 10001"/>
              <a:gd name="connsiteX4" fmla="*/ 2401 w 9999"/>
              <a:gd name="connsiteY4" fmla="*/ 9996 h 10001"/>
              <a:gd name="connsiteX5" fmla="*/ 3600 w 9999"/>
              <a:gd name="connsiteY5" fmla="*/ 2096 h 10001"/>
              <a:gd name="connsiteX0" fmla="*/ 3600 w 10000"/>
              <a:gd name="connsiteY0" fmla="*/ 2096 h 10000"/>
              <a:gd name="connsiteX1" fmla="*/ 0 w 10000"/>
              <a:gd name="connsiteY1" fmla="*/ 0 h 10000"/>
              <a:gd name="connsiteX2" fmla="*/ 10000 w 10000"/>
              <a:gd name="connsiteY2" fmla="*/ 1 h 10000"/>
              <a:gd name="connsiteX3" fmla="*/ 10000 w 10000"/>
              <a:gd name="connsiteY3" fmla="*/ 10000 h 10000"/>
              <a:gd name="connsiteX4" fmla="*/ 2401 w 10000"/>
              <a:gd name="connsiteY4" fmla="*/ 9995 h 10000"/>
              <a:gd name="connsiteX5" fmla="*/ 3600 w 10000"/>
              <a:gd name="connsiteY5" fmla="*/ 2096 h 10000"/>
              <a:gd name="connsiteX0" fmla="*/ 3613 w 10013"/>
              <a:gd name="connsiteY0" fmla="*/ 2095 h 9999"/>
              <a:gd name="connsiteX1" fmla="*/ 0 w 10013"/>
              <a:gd name="connsiteY1" fmla="*/ 4 h 9999"/>
              <a:gd name="connsiteX2" fmla="*/ 10013 w 10013"/>
              <a:gd name="connsiteY2" fmla="*/ 0 h 9999"/>
              <a:gd name="connsiteX3" fmla="*/ 10013 w 10013"/>
              <a:gd name="connsiteY3" fmla="*/ 9999 h 9999"/>
              <a:gd name="connsiteX4" fmla="*/ 2414 w 10013"/>
              <a:gd name="connsiteY4" fmla="*/ 9994 h 9999"/>
              <a:gd name="connsiteX5" fmla="*/ 3613 w 10013"/>
              <a:gd name="connsiteY5" fmla="*/ 2095 h 9999"/>
              <a:gd name="connsiteX0" fmla="*/ 3608 w 10000"/>
              <a:gd name="connsiteY0" fmla="*/ 2091 h 9996"/>
              <a:gd name="connsiteX1" fmla="*/ 0 w 10000"/>
              <a:gd name="connsiteY1" fmla="*/ 0 h 9996"/>
              <a:gd name="connsiteX2" fmla="*/ 7348 w 10000"/>
              <a:gd name="connsiteY2" fmla="*/ 9 h 9996"/>
              <a:gd name="connsiteX3" fmla="*/ 10000 w 10000"/>
              <a:gd name="connsiteY3" fmla="*/ 9996 h 9996"/>
              <a:gd name="connsiteX4" fmla="*/ 2411 w 10000"/>
              <a:gd name="connsiteY4" fmla="*/ 9991 h 9996"/>
              <a:gd name="connsiteX5" fmla="*/ 3608 w 10000"/>
              <a:gd name="connsiteY5" fmla="*/ 2091 h 9996"/>
              <a:gd name="connsiteX0" fmla="*/ 3608 w 10000"/>
              <a:gd name="connsiteY0" fmla="*/ 2092 h 10000"/>
              <a:gd name="connsiteX1" fmla="*/ 0 w 10000"/>
              <a:gd name="connsiteY1" fmla="*/ 0 h 10000"/>
              <a:gd name="connsiteX2" fmla="*/ 7921 w 10000"/>
              <a:gd name="connsiteY2" fmla="*/ 9 h 10000"/>
              <a:gd name="connsiteX3" fmla="*/ 10000 w 10000"/>
              <a:gd name="connsiteY3" fmla="*/ 10000 h 10000"/>
              <a:gd name="connsiteX4" fmla="*/ 2411 w 10000"/>
              <a:gd name="connsiteY4" fmla="*/ 9995 h 10000"/>
              <a:gd name="connsiteX5" fmla="*/ 3608 w 10000"/>
              <a:gd name="connsiteY5" fmla="*/ 2092 h 10000"/>
              <a:gd name="connsiteX0" fmla="*/ 3608 w 7921"/>
              <a:gd name="connsiteY0" fmla="*/ 2092 h 9995"/>
              <a:gd name="connsiteX1" fmla="*/ 0 w 7921"/>
              <a:gd name="connsiteY1" fmla="*/ 0 h 9995"/>
              <a:gd name="connsiteX2" fmla="*/ 7921 w 7921"/>
              <a:gd name="connsiteY2" fmla="*/ 9 h 9995"/>
              <a:gd name="connsiteX3" fmla="*/ 7420 w 7921"/>
              <a:gd name="connsiteY3" fmla="*/ 9974 h 9995"/>
              <a:gd name="connsiteX4" fmla="*/ 2411 w 7921"/>
              <a:gd name="connsiteY4" fmla="*/ 9995 h 9995"/>
              <a:gd name="connsiteX5" fmla="*/ 3608 w 7921"/>
              <a:gd name="connsiteY5" fmla="*/ 2092 h 9995"/>
              <a:gd name="connsiteX0" fmla="*/ 4555 w 10024"/>
              <a:gd name="connsiteY0" fmla="*/ 2093 h 10019"/>
              <a:gd name="connsiteX1" fmla="*/ 0 w 10024"/>
              <a:gd name="connsiteY1" fmla="*/ 0 h 10019"/>
              <a:gd name="connsiteX2" fmla="*/ 10000 w 10024"/>
              <a:gd name="connsiteY2" fmla="*/ 9 h 10019"/>
              <a:gd name="connsiteX3" fmla="*/ 10024 w 10024"/>
              <a:gd name="connsiteY3" fmla="*/ 10019 h 10019"/>
              <a:gd name="connsiteX4" fmla="*/ 3044 w 10024"/>
              <a:gd name="connsiteY4" fmla="*/ 10000 h 10019"/>
              <a:gd name="connsiteX5" fmla="*/ 4555 w 10024"/>
              <a:gd name="connsiteY5" fmla="*/ 2093 h 1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4" h="10019">
                <a:moveTo>
                  <a:pt x="4555" y="2093"/>
                </a:moveTo>
                <a:cubicBezTo>
                  <a:pt x="3391" y="1363"/>
                  <a:pt x="1216" y="491"/>
                  <a:pt x="0" y="0"/>
                </a:cubicBezTo>
                <a:lnTo>
                  <a:pt x="10000" y="9"/>
                </a:lnTo>
                <a:cubicBezTo>
                  <a:pt x="10008" y="3346"/>
                  <a:pt x="10016" y="6682"/>
                  <a:pt x="10024" y="10019"/>
                </a:cubicBezTo>
                <a:lnTo>
                  <a:pt x="3044" y="10000"/>
                </a:lnTo>
                <a:lnTo>
                  <a:pt x="4555" y="2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1162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 flipH="1">
            <a:off x="1814976" y="383492"/>
            <a:ext cx="3338804" cy="6474508"/>
            <a:chOff x="4000590" y="374206"/>
            <a:chExt cx="3338804" cy="6474508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 rot="1859265">
              <a:off x="4000590" y="374206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lnTo>
                    <a:pt x="3017940" y="1735571"/>
                  </a:lnTo>
                  <a:cubicBezTo>
                    <a:pt x="2192531" y="995908"/>
                    <a:pt x="1193572" y="525963"/>
                    <a:pt x="56031" y="374148"/>
                  </a:cubicBezTo>
                  <a:close/>
                </a:path>
              </a:pathLst>
            </a:custGeom>
            <a:solidFill>
              <a:srgbClr val="3D002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859265">
              <a:off x="5427310" y="3217352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88947" y="1117232"/>
                    <a:pt x="147049" y="198900"/>
                  </a:cubicBezTo>
                  <a:close/>
                </a:path>
              </a:pathLst>
            </a:custGeom>
            <a:solidFill>
              <a:srgbClr val="531C4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913142" cy="6861586"/>
          </a:xfrm>
          <a:custGeom>
            <a:avLst/>
            <a:gdLst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334803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277156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2790021"/>
              <a:gd name="connsiteY0" fmla="*/ 0 h 6858000"/>
              <a:gd name="connsiteX1" fmla="*/ 2790021 w 2790021"/>
              <a:gd name="connsiteY1" fmla="*/ 0 h 6858000"/>
              <a:gd name="connsiteX2" fmla="*/ 2652299 w 2790021"/>
              <a:gd name="connsiteY2" fmla="*/ 2963286 h 6858000"/>
              <a:gd name="connsiteX3" fmla="*/ 2771568 w 2790021"/>
              <a:gd name="connsiteY3" fmla="*/ 6858000 h 6858000"/>
              <a:gd name="connsiteX4" fmla="*/ 0 w 2790021"/>
              <a:gd name="connsiteY4" fmla="*/ 6858000 h 6858000"/>
              <a:gd name="connsiteX5" fmla="*/ 0 w 2790021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3142" h="6861586">
                <a:moveTo>
                  <a:pt x="0" y="0"/>
                </a:moveTo>
                <a:lnTo>
                  <a:pt x="3913142" y="0"/>
                </a:lnTo>
                <a:cubicBezTo>
                  <a:pt x="2975336" y="1127462"/>
                  <a:pt x="2742380" y="2315249"/>
                  <a:pt x="2664999" y="2988686"/>
                </a:cubicBezTo>
                <a:cubicBezTo>
                  <a:pt x="2392136" y="3959313"/>
                  <a:pt x="2366700" y="5503683"/>
                  <a:pt x="2760811" y="686158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13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 flipH="1">
            <a:off x="2171560" y="3174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 flipH="1">
            <a:off x="2181007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-9525" y="-6350"/>
            <a:ext cx="4010056" cy="6877122"/>
          </a:xfrm>
          <a:custGeom>
            <a:avLst/>
            <a:gdLst>
              <a:gd name="connsiteX0" fmla="*/ 0 w 3856038"/>
              <a:gd name="connsiteY0" fmla="*/ 0 h 6877122"/>
              <a:gd name="connsiteX1" fmla="*/ 3213352 w 3856038"/>
              <a:gd name="connsiteY1" fmla="*/ 0 h 6877122"/>
              <a:gd name="connsiteX2" fmla="*/ 3856038 w 3856038"/>
              <a:gd name="connsiteY2" fmla="*/ 642686 h 6877122"/>
              <a:gd name="connsiteX3" fmla="*/ 3856038 w 3856038"/>
              <a:gd name="connsiteY3" fmla="*/ 6877122 h 6877122"/>
              <a:gd name="connsiteX4" fmla="*/ 0 w 3856038"/>
              <a:gd name="connsiteY4" fmla="*/ 6877122 h 6877122"/>
              <a:gd name="connsiteX5" fmla="*/ 0 w 3856038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3856038 w 4000531"/>
              <a:gd name="connsiteY2" fmla="*/ 642686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1700461 w 4000531"/>
              <a:gd name="connsiteY2" fmla="*/ 131559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0056" h="6877122">
                <a:moveTo>
                  <a:pt x="0" y="0"/>
                </a:moveTo>
                <a:lnTo>
                  <a:pt x="4010056" y="0"/>
                </a:lnTo>
                <a:cubicBezTo>
                  <a:pt x="3401058" y="446998"/>
                  <a:pt x="2855559" y="776520"/>
                  <a:pt x="2183061" y="1436243"/>
                </a:cubicBezTo>
                <a:lnTo>
                  <a:pt x="2798514" y="6877122"/>
                </a:lnTo>
                <a:lnTo>
                  <a:pt x="0" y="687712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859245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750033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94613" y="1824740"/>
            <a:ext cx="7452691" cy="3868738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600" b="0" i="0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5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ullets and box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4988458" y="1819747"/>
            <a:ext cx="3251533" cy="38658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337408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336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412375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8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(with images)</a:t>
            </a:r>
          </a:p>
        </p:txBody>
      </p:sp>
    </p:spTree>
    <p:extLst>
      <p:ext uri="{BB962C8B-B14F-4D97-AF65-F5344CB8AC3E}">
        <p14:creationId xmlns:p14="http://schemas.microsoft.com/office/powerpoint/2010/main" val="65014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5" r:id="rId2"/>
    <p:sldLayoutId id="2147483727" r:id="rId3"/>
    <p:sldLayoutId id="2147483733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(no image)</a:t>
            </a:r>
          </a:p>
        </p:txBody>
      </p:sp>
    </p:spTree>
    <p:extLst>
      <p:ext uri="{BB962C8B-B14F-4D97-AF65-F5344CB8AC3E}">
        <p14:creationId xmlns:p14="http://schemas.microsoft.com/office/powerpoint/2010/main" val="15202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Divider slides</a:t>
            </a:r>
          </a:p>
        </p:txBody>
      </p:sp>
    </p:spTree>
    <p:extLst>
      <p:ext uri="{BB962C8B-B14F-4D97-AF65-F5344CB8AC3E}">
        <p14:creationId xmlns:p14="http://schemas.microsoft.com/office/powerpoint/2010/main" val="28092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01" r:id="rId3"/>
    <p:sldLayoutId id="2147483702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Content slides</a:t>
            </a:r>
          </a:p>
        </p:txBody>
      </p:sp>
    </p:spTree>
    <p:extLst>
      <p:ext uri="{BB962C8B-B14F-4D97-AF65-F5344CB8AC3E}">
        <p14:creationId xmlns:p14="http://schemas.microsoft.com/office/powerpoint/2010/main" val="143207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7" r:id="rId3"/>
    <p:sldLayoutId id="2147483738" r:id="rId4"/>
    <p:sldLayoutId id="2147483734" r:id="rId5"/>
    <p:sldLayoutId id="2147483735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3658816.2020.1732393" TargetMode="External"/><Relationship Id="rId2" Type="http://schemas.openxmlformats.org/officeDocument/2006/relationships/hyperlink" Target="https://www.kaggle.com/datasets/idhers/us-crimes-by-state-by-county-from-2011-to-201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3F94CE-BD36-59A5-6FCD-A18FA7212E3D}"/>
              </a:ext>
            </a:extLst>
          </p:cNvPr>
          <p:cNvSpPr txBox="1"/>
          <p:nvPr/>
        </p:nvSpPr>
        <p:spPr>
          <a:xfrm>
            <a:off x="5245099" y="1720841"/>
            <a:ext cx="418560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 sz="1800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</a:p>
          <a:p>
            <a:pPr algn="ctr">
              <a:lnSpc>
                <a:spcPct val="150000"/>
              </a:lnSpc>
              <a:defRPr sz="1800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</a:t>
            </a:r>
          </a:p>
          <a:p>
            <a:pPr algn="ctr">
              <a:lnSpc>
                <a:spcPct val="150000"/>
              </a:lnSpc>
              <a:defRPr sz="1800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COM745</a:t>
            </a:r>
          </a:p>
          <a:p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7E9A0-7D46-198C-C02C-8B1D0235DC24}"/>
              </a:ext>
            </a:extLst>
          </p:cNvPr>
          <p:cNvSpPr txBox="1"/>
          <p:nvPr/>
        </p:nvSpPr>
        <p:spPr>
          <a:xfrm>
            <a:off x="507044" y="2149911"/>
            <a:ext cx="473805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Amin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Subject: Crime Dataset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Date: 10 January 2025</a:t>
            </a:r>
          </a:p>
          <a:p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76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40C620-A55E-4E91-B8BF-3DE7C8908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2685" y="1774209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crime data helps policymakers and law enforcement agencies: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crime patterns and trends.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Allocate resources effectively.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Address public safety concerns using data-driven insights.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F1C1E-8322-40D8-A359-FC7D796271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237" y="1211776"/>
            <a:ext cx="6453371" cy="476034"/>
          </a:xfrm>
        </p:spPr>
        <p:txBody>
          <a:bodyPr/>
          <a:lstStyle/>
          <a:p>
            <a:pPr>
              <a:defRPr sz="2400" b="1"/>
            </a:pPr>
            <a:r>
              <a:rPr lang="en-US" sz="3600" dirty="0"/>
              <a:t>P</a:t>
            </a:r>
            <a:r>
              <a:rPr lang="de-DE" sz="3600" dirty="0" err="1"/>
              <a:t>roblem</a:t>
            </a:r>
            <a:r>
              <a:rPr lang="de-DE" sz="3600" dirty="0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170984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881C18-23AD-82CC-4CE1-AFF3CDBD0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1885" y="1965797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Dataset Source: Publicly available government data (e.g., data.gov).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Structure: Contains columns like State, County, Violent Crimes, Murder, Rape, etc.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Size: 2,518 rows with multiple attributes.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3C732-2900-27F7-C8CC-ED34C9A423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687" y="1386509"/>
            <a:ext cx="6453371" cy="476034"/>
          </a:xfrm>
        </p:spPr>
        <p:txBody>
          <a:bodyPr/>
          <a:lstStyle/>
          <a:p>
            <a:pPr>
              <a:defRPr sz="2400" b="1"/>
            </a:pPr>
            <a:r>
              <a:rPr lang="de-DE" sz="3600" dirty="0"/>
              <a:t>Dataset Details</a:t>
            </a:r>
          </a:p>
        </p:txBody>
      </p:sp>
    </p:spTree>
    <p:extLst>
      <p:ext uri="{BB962C8B-B14F-4D97-AF65-F5344CB8AC3E}">
        <p14:creationId xmlns:p14="http://schemas.microsoft.com/office/powerpoint/2010/main" val="389166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4D8C-A308-742F-2F91-F1CA739C5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D1CEDB-FBBC-C838-FB16-F37AB23F3C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2685" y="1749897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was chosen because: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is relevant for crime analysis.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provides granular data at the county level.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Missing values were manageable and were handled effectively.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053CD-B871-47AB-DBBC-55E99F66AF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237" y="1113459"/>
            <a:ext cx="6453371" cy="476034"/>
          </a:xfrm>
        </p:spPr>
        <p:txBody>
          <a:bodyPr/>
          <a:lstStyle/>
          <a:p>
            <a:r>
              <a:rPr lang="de-DE" sz="3600" dirty="0"/>
              <a:t>Dataset </a:t>
            </a:r>
            <a:r>
              <a:rPr lang="de-DE" sz="3600" dirty="0" err="1"/>
              <a:t>Justification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217810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267A2-B213-36EC-E4B1-0A28F5A7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428210-4836-95AF-7338-09C6B93EA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2364169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Hadoop was used for storing large datasets in HDFS.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Hive was used to query and analyze the crime data efficiently.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7CFB9-74AC-C2BE-CD95-DE1D8C07288A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1773238"/>
            <a:ext cx="5096267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Hadoop and Hive Setup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35125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00978-30C0-0A0E-3BEE-4D597DC4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CAE4D2-43DB-BFD6-A45D-0603FBDC84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745" y="941121"/>
            <a:ext cx="7500339" cy="95752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• The crime dataset was uploaded to HDFS at the location:</a:t>
            </a:r>
          </a:p>
          <a:p>
            <a:pPr marL="0" indent="0">
              <a:buNone/>
            </a:pPr>
            <a:r>
              <a:rPr lang="en-US" sz="1800" dirty="0"/>
              <a:t>  '/user/</a:t>
            </a:r>
            <a:r>
              <a:rPr lang="en-US" sz="1800" dirty="0" err="1"/>
              <a:t>hadoop</a:t>
            </a:r>
            <a:r>
              <a:rPr lang="en-US" sz="1800" dirty="0"/>
              <a:t>/dataset/2017report.csv'.</a:t>
            </a:r>
          </a:p>
          <a:p>
            <a:pPr marL="0" indent="0">
              <a:buNone/>
            </a:pPr>
            <a:r>
              <a:rPr lang="en-US" sz="1800" dirty="0"/>
              <a:t>• Hive was connected to this file for querying and analysis.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2EC3C-DDDD-2AF4-A32A-B4E3F4D9E866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594745" y="317586"/>
            <a:ext cx="3852337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HDFS File Upload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8AF82-E819-E283-A1A0-DC2048A31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45" y="1826768"/>
            <a:ext cx="7270123" cy="367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4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5BFB-1846-2AD8-4412-3AB5462B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302A3-8EF2-5C7E-3857-E808B8838B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262535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Missing values in key columns ('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Murder_and_manslaughter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 and 'Rape') were replaced with 0.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types were standardized to ensure accurate analysis.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9C935-348D-C621-EA11-71A1E7469787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3095719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Data </a:t>
            </a:r>
            <a:r>
              <a:rPr lang="de-DE" sz="3600" dirty="0" err="1"/>
              <a:t>Cleaning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190620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A327-0CEC-400A-3833-99F76959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8CCB18-2964-74CE-3873-717867CBE8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Hadoop (HDFS): Used for distributed storage of large datasets.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Hive: Used for SQL-based querying and data transformation.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Visualization Tools: Zeppelin and Power BI for data visualization.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C9E563-7B2E-D5E6-457F-66AC939AE1CF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5117555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Tools and Technologies</a:t>
            </a:r>
          </a:p>
        </p:txBody>
      </p:sp>
    </p:spTree>
    <p:extLst>
      <p:ext uri="{BB962C8B-B14F-4D97-AF65-F5344CB8AC3E}">
        <p14:creationId xmlns:p14="http://schemas.microsoft.com/office/powerpoint/2010/main" val="136791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14D9-3122-9D77-F97D-AD111632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778646-69CC-D8CF-366D-0769AC57B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970435"/>
            <a:ext cx="8186737" cy="2331565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Analysis revealed total violent and property crimes for each state.</a:t>
            </a:r>
          </a:p>
          <a:p>
            <a:pPr marL="0" indent="0">
              <a:buNone/>
              <a:defRPr sz="18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Top states with the highest crime rates were identified, enabling targeted intervention.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38FC8-7062-9B16-1437-B015759C6B2D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484188"/>
            <a:ext cx="4600362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Total Crimes </a:t>
            </a:r>
            <a:r>
              <a:rPr lang="de-DE" sz="3600" dirty="0" err="1"/>
              <a:t>by</a:t>
            </a:r>
            <a:r>
              <a:rPr lang="de-DE" sz="3600" dirty="0"/>
              <a:t>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7DF38-BAD9-B63F-021A-4EB451F4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98" y="1891567"/>
            <a:ext cx="7143152" cy="388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0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C065-A8D4-D99F-C6BF-8B3660AA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1C8936-4B69-79CE-BEFA-9D8DF4BCF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1296515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dirty="0"/>
              <a:t>• The analysis highlighted the top 5 counties with the highest violent crime rates.</a:t>
            </a:r>
          </a:p>
          <a:p>
            <a:pPr marL="0" indent="0">
              <a:buNone/>
              <a:defRPr sz="1800"/>
            </a:pPr>
            <a:r>
              <a:rPr lang="en-US" dirty="0"/>
              <a:t>• These areas require focused resource allocation and preventive measures.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EB1D6-46A3-70C2-8742-82965E21CF0F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3305136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Top 5 </a:t>
            </a:r>
            <a:r>
              <a:rPr lang="de-DE" sz="3600" dirty="0" err="1"/>
              <a:t>Counties</a:t>
            </a:r>
            <a:endParaRPr lang="de-DE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2508C-09AE-E74A-99CE-DFC072BC1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328897"/>
            <a:ext cx="7710487" cy="293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0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F52E-74B4-159B-6AC1-2B7A9082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0E28D7-5A07-6F5A-A9F4-D38787404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Yearly analysis revealed crime trends over time.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Patterns showed periods of increasing or decreasing crime rates, providing actionable insights.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C1F16-E21C-27B5-CF22-36EC15F18F3C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5229188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Crime Trends Over Time</a:t>
            </a:r>
          </a:p>
        </p:txBody>
      </p:sp>
    </p:spTree>
    <p:extLst>
      <p:ext uri="{BB962C8B-B14F-4D97-AF65-F5344CB8AC3E}">
        <p14:creationId xmlns:p14="http://schemas.microsoft.com/office/powerpoint/2010/main" val="2972784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8894-5DE4-E155-86CC-5EE29EFE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4E9643-F252-5355-2C65-E5CA643397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605435"/>
            <a:ext cx="7500339" cy="979015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Correlation between violent and property crimes was analyzed.</a:t>
            </a:r>
          </a:p>
          <a:p>
            <a:pPr marL="0" indent="0">
              <a:buNone/>
              <a:defRPr sz="18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Regional patterns provided actionable insights for law enforcement and policymakers.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098C7-2125-68BA-D09B-FA4457D87544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1081088"/>
            <a:ext cx="4095993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Additional </a:t>
            </a:r>
            <a:r>
              <a:rPr lang="de-DE" sz="3600" dirty="0" err="1"/>
              <a:t>Insights</a:t>
            </a:r>
            <a:endParaRPr lang="de-DE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6C746-8864-2B5A-30E6-3FD1BCC7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2600797"/>
            <a:ext cx="7913591" cy="276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9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250D-4BFC-190C-41C8-68DE25A9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C03858-9338-5D41-E94E-3404E7542E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States with the largest gaps between violent and property crimes were highlighted.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Counties with unusual crime patterns (e.g., high violent but low property crimes) were flagged.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Temporal patterns showed key periods of increased criminal activity.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A400-F3C6-FB03-7719-10CF8F1A3A81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4211409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Additional </a:t>
            </a:r>
            <a:r>
              <a:rPr lang="de-DE" sz="3600" dirty="0" err="1"/>
              <a:t>Insights</a:t>
            </a:r>
            <a:r>
              <a:rPr lang="de-DE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099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ADA3-477A-E62C-2D78-A5FA3A4B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2CAA2F-8E10-78B7-B4F1-012BF1351A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States and counties with the highest crime rates were identified.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Patterns and trends offered valuable insights for policymakers.</a:t>
            </a:r>
          </a:p>
          <a:p>
            <a:pPr marL="0" indent="0">
              <a:buNone/>
              <a:defRPr sz="1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This analysis highlights the importance of data-driven decision-making.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93441F-D50F-817A-CB36-34852F6491F9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4993675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 err="1"/>
              <a:t>Concluding</a:t>
            </a:r>
            <a:r>
              <a:rPr lang="de-DE" sz="3600" dirty="0"/>
              <a:t> Comments</a:t>
            </a:r>
          </a:p>
        </p:txBody>
      </p:sp>
    </p:spTree>
    <p:extLst>
      <p:ext uri="{BB962C8B-B14F-4D97-AF65-F5344CB8AC3E}">
        <p14:creationId xmlns:p14="http://schemas.microsoft.com/office/powerpoint/2010/main" val="2885424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5DBB-8F2D-A64A-A303-ABAE95D37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ECBD4-87F4-CBD4-B6DB-D4E1FD05D0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386582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Quality Issues:</a:t>
            </a:r>
          </a:p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Missing values and inconsistent data formats required cleaning and standardization.</a:t>
            </a:r>
          </a:p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Technical Constraints:</a:t>
            </a:r>
          </a:p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Limited resources for handling large datasets during analysis.</a:t>
            </a:r>
          </a:p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Query optimization was required for efficient processing in Hive.</a:t>
            </a:r>
          </a:p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Scalability:</a:t>
            </a:r>
          </a:p>
          <a:p>
            <a:pPr marL="0" indent="0">
              <a:buNone/>
              <a:defRPr sz="1800"/>
            </a:pP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Future integration with larger and real-time datasets poses scalability challenges.</a:t>
            </a:r>
          </a:p>
          <a:p>
            <a:pPr marL="0" indent="0">
              <a:buNone/>
              <a:defRPr sz="1800"/>
            </a:pP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ABA9C-9EFC-7255-C765-82D6ED809BEB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3659976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Challenge </a:t>
            </a:r>
            <a:r>
              <a:rPr lang="de-DE" sz="3600" dirty="0" err="1"/>
              <a:t>Faced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140575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5A97-8FCE-7F54-EB66-238AAA5C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465B35-5582-D32A-13AB-96B9A0712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1097435"/>
            <a:ext cx="7500339" cy="3865829"/>
          </a:xfrm>
        </p:spPr>
        <p:txBody>
          <a:bodyPr/>
          <a:lstStyle/>
          <a:p>
            <a:pPr>
              <a:defRPr sz="18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https://www.kaggle.com/datasets/idhers/us-crimes-by-state-by-county-from-2011-to-2017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800"/>
            </a:pP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Ajayakumar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, J., &amp; Shook, E. (2020). 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Leveraging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parallel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spatio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-temporal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computing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crime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analysis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in large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datasets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Analyzing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trends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near-repeat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phenomenon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crime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de-DE" sz="1800" b="0" i="0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cities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de-DE" sz="1800" b="0" i="1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International Journal </a:t>
            </a:r>
            <a:r>
              <a:rPr lang="de-DE" sz="1800" b="0" i="1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lang="de-DE" sz="1800" b="0" i="1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de-DE" sz="1800" b="0" i="1" dirty="0" err="1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Geographical</a:t>
            </a:r>
            <a:r>
              <a:rPr lang="de-DE" sz="1800" b="0" i="1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 Information Science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, </a:t>
            </a:r>
            <a:r>
              <a:rPr lang="de-DE" sz="1800" b="1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34</a:t>
            </a:r>
            <a:r>
              <a:rPr lang="de-DE" sz="1800" b="0" i="0" dirty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(9), 1683–1707. </a:t>
            </a:r>
            <a:r>
              <a:rPr lang="de-DE" sz="1800" i="0" u="none" strike="noStrike" dirty="0">
                <a:solidFill>
                  <a:srgbClr val="336699"/>
                </a:solidFill>
                <a:effectLst/>
                <a:latin typeface="Open Sans" panose="020B0606030504020204" pitchFamily="34" charset="0"/>
                <a:hlinkClick r:id="rId3"/>
              </a:rPr>
              <a:t>https://doi.org/10.1080/13658816.2020.1732393</a:t>
            </a:r>
            <a:endParaRPr lang="de-DE" sz="1800" i="0" u="none" strike="noStrike" dirty="0">
              <a:solidFill>
                <a:srgbClr val="336699"/>
              </a:solidFill>
              <a:effectLst/>
              <a:latin typeface="Open Sans" panose="020B0606030504020204" pitchFamily="34" charset="0"/>
            </a:endParaRPr>
          </a:p>
          <a:p>
            <a:pPr fontAlgn="base"/>
            <a:r>
              <a:rPr lang="en-US" sz="1800" dirty="0">
                <a:effectLst/>
                <a:latin typeface="inherit"/>
              </a:rPr>
              <a:t>Abbott, A. (1997), ‘Of Time and Space: The Contemporary Relevance of the Chicago School’, </a:t>
            </a:r>
            <a:r>
              <a:rPr lang="en-US" sz="1800" i="1" dirty="0">
                <a:effectLst/>
                <a:latin typeface="inherit"/>
              </a:rPr>
              <a:t>Social Forces</a:t>
            </a:r>
            <a:r>
              <a:rPr lang="en-US" sz="1800" dirty="0">
                <a:effectLst/>
                <a:latin typeface="inherit"/>
              </a:rPr>
              <a:t>, 75: 1149–82.</a:t>
            </a:r>
          </a:p>
          <a:p>
            <a:r>
              <a:rPr lang="de-DE" sz="1800" dirty="0"/>
              <a:t>M.I. </a:t>
            </a:r>
            <a:r>
              <a:rPr lang="de-DE" sz="1800" dirty="0" err="1"/>
              <a:t>Pramanik</a:t>
            </a:r>
            <a:r>
              <a:rPr lang="de-DE" sz="1800" dirty="0"/>
              <a:t>, Raymond Y.K. Lau, Wei T. Yue, </a:t>
            </a:r>
            <a:r>
              <a:rPr lang="de-DE" sz="1800" dirty="0" err="1"/>
              <a:t>Yunming</a:t>
            </a:r>
            <a:r>
              <a:rPr lang="de-DE" sz="1800" dirty="0"/>
              <a:t> </a:t>
            </a:r>
            <a:r>
              <a:rPr lang="de-DE" sz="1800" dirty="0" err="1"/>
              <a:t>Ye</a:t>
            </a:r>
            <a:r>
              <a:rPr lang="de-DE" sz="1800" dirty="0"/>
              <a:t> and </a:t>
            </a:r>
            <a:r>
              <a:rPr lang="de-DE" sz="1800" dirty="0" err="1"/>
              <a:t>Chunping</a:t>
            </a:r>
            <a:r>
              <a:rPr lang="de-DE" sz="1800" dirty="0"/>
              <a:t> Li, Big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analytics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security</a:t>
            </a:r>
            <a:r>
              <a:rPr lang="de-DE" sz="1800" dirty="0"/>
              <a:t> and </a:t>
            </a:r>
            <a:r>
              <a:rPr lang="de-DE" sz="1800" dirty="0" err="1"/>
              <a:t>criminal</a:t>
            </a:r>
            <a:r>
              <a:rPr lang="de-DE" sz="1800" dirty="0"/>
              <a:t> </a:t>
            </a:r>
            <a:r>
              <a:rPr lang="de-DE" sz="1800" dirty="0" err="1"/>
              <a:t>investigations</a:t>
            </a:r>
            <a:r>
              <a:rPr lang="de-DE" sz="1800" dirty="0"/>
              <a:t>, WIREs Data Mining </a:t>
            </a:r>
            <a:r>
              <a:rPr lang="de-DE" sz="1800" dirty="0" err="1"/>
              <a:t>Knowl</a:t>
            </a:r>
            <a:r>
              <a:rPr lang="de-DE" sz="1800" dirty="0"/>
              <a:t> </a:t>
            </a:r>
            <a:r>
              <a:rPr lang="de-DE" sz="1800" dirty="0" err="1"/>
              <a:t>Discov</a:t>
            </a:r>
            <a:r>
              <a:rPr lang="de-DE" sz="1800" dirty="0"/>
              <a:t> 2017, e1208. </a:t>
            </a:r>
            <a:r>
              <a:rPr lang="de-DE" sz="1800" dirty="0" err="1"/>
              <a:t>doi</a:t>
            </a:r>
            <a:r>
              <a:rPr lang="de-DE" sz="1800" dirty="0"/>
              <a:t>: 10.1002/widm.1208</a:t>
            </a:r>
            <a:br>
              <a:rPr lang="en-US" sz="1800" b="0" i="0" dirty="0">
                <a:solidFill>
                  <a:srgbClr val="2A2A2A"/>
                </a:solidFill>
                <a:effectLst/>
                <a:latin typeface="Source Sans Pro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800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C5F0F-9C9E-5E79-AACC-D2D807C27055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696913" y="573088"/>
            <a:ext cx="2544286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lang="de-DE" sz="3600" dirty="0"/>
              <a:t>References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94F8AF-66C3-6682-69AB-B35139BF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1488069"/>
            <a:ext cx="30473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(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us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crimes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by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state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by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county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from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2011 </a:t>
            </a:r>
            <a:r>
              <a:rPr kumimoji="0" lang="de-DE" altLang="de-DE" sz="1100" i="1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to</a:t>
            </a:r>
            <a:r>
              <a:rPr kumimoji="0" lang="de-DE" altLang="de-DE" sz="1100" i="1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ea typeface="inherit"/>
              </a:rPr>
              <a:t> 2017</a:t>
            </a:r>
            <a:r>
              <a:rPr lang="de-DE" altLang="de-DE" sz="1100" i="1" dirty="0">
                <a:solidFill>
                  <a:srgbClr val="202124"/>
                </a:solidFill>
                <a:ea typeface="inherit"/>
              </a:rPr>
              <a:t>)</a:t>
            </a:r>
            <a:endParaRPr kumimoji="0" lang="de-DE" altLang="de-DE" sz="1100" i="1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ea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1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944097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s - with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 options - no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686</Words>
  <Application>Microsoft Office PowerPoint</Application>
  <PresentationFormat>On-screen Show (4:3)</PresentationFormat>
  <Paragraphs>69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inherit</vt:lpstr>
      <vt:lpstr>Arial</vt:lpstr>
      <vt:lpstr>Calibri</vt:lpstr>
      <vt:lpstr>Open Sans</vt:lpstr>
      <vt:lpstr>Source Sans Pro</vt:lpstr>
      <vt:lpstr>Times New Roman</vt:lpstr>
      <vt:lpstr>Title slide options - with image</vt:lpstr>
      <vt:lpstr>Title slide options - no image</vt:lpstr>
      <vt:lpstr>Divider slide options</vt:lpstr>
      <vt:lpstr>Content slide options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Easson</dc:creator>
  <cp:lastModifiedBy>Tayyaba Noreen</cp:lastModifiedBy>
  <cp:revision>151</cp:revision>
  <dcterms:created xsi:type="dcterms:W3CDTF">2017-06-14T16:15:53Z</dcterms:created>
  <dcterms:modified xsi:type="dcterms:W3CDTF">2025-01-09T03:51:54Z</dcterms:modified>
</cp:coreProperties>
</file>